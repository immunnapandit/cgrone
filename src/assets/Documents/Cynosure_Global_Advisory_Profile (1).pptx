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Aptos Display"/>
              </a:rPr>
              <a:t>CYNOSURE GLOBAL ADVISORY</a:t>
            </a:r>
          </a:p>
          <a:p>
            <a:r>
              <a:rPr sz="2300">
                <a:solidFill>
                  <a:srgbClr val="D8E7EA"/>
                </a:solidFill>
                <a:latin typeface="Aptos"/>
              </a:rPr>
              <a:t>International Market Entry &amp; Strategic Expansion</a:t>
            </a:r>
          </a:p>
          <a:p>
            <a:r>
              <a:rPr sz="1700">
                <a:solidFill>
                  <a:srgbClr val="B8C9CE"/>
                </a:solidFill>
                <a:latin typeface="Aptos"/>
              </a:rPr>
              <a:t>Helping businesses enter, establish and grow across international markets.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2578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8C9CE"/>
                </a:solidFill>
              </a:rPr>
              <a:t>India-based • International outlook • Partner-led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324F"/>
                </a:solidFill>
                <a:latin typeface="Aptos Display"/>
              </a:rPr>
              <a:t>Our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344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66737A"/>
                </a:solidFill>
                <a:latin typeface="Aptos"/>
              </a:rPr>
              <a:t>A practical advisory platform for businesses looking beyond their home market.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5323A"/>
                </a:solidFill>
                <a:latin typeface="Aptos"/>
              </a:defRPr>
            </a:pPr>
            <a:r>
              <a:t>• Help businesses identify the right international markets.</a:t>
            </a:r>
          </a:p>
          <a:p>
            <a:pPr>
              <a:spcAft>
                <a:spcPts val="1400"/>
              </a:spcAft>
              <a:defRPr sz="2100">
                <a:solidFill>
                  <a:srgbClr val="25323A"/>
                </a:solidFill>
                <a:latin typeface="Aptos"/>
              </a:defRPr>
            </a:pPr>
            <a:r>
              <a:t>• Build the right local relationships and partnerships.</a:t>
            </a:r>
          </a:p>
          <a:p>
            <a:pPr>
              <a:spcAft>
                <a:spcPts val="1400"/>
              </a:spcAft>
              <a:defRPr sz="2100">
                <a:solidFill>
                  <a:srgbClr val="25323A"/>
                </a:solidFill>
                <a:latin typeface="Aptos"/>
              </a:defRPr>
            </a:pPr>
            <a:r>
              <a:t>• Support market entry from strategy through execution.</a:t>
            </a:r>
          </a:p>
          <a:p>
            <a:pPr>
              <a:spcAft>
                <a:spcPts val="1400"/>
              </a:spcAft>
              <a:defRPr sz="2100">
                <a:solidFill>
                  <a:srgbClr val="25323A"/>
                </a:solidFill>
                <a:latin typeface="Aptos"/>
              </a:defRPr>
            </a:pPr>
            <a:r>
              <a:t>• Create long-term international growth opportunities.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510528"/>
            <a:ext cx="10789920" cy="13716"/>
          </a:xfrm>
          <a:prstGeom prst="rect">
            <a:avLst/>
          </a:prstGeom>
          <a:solidFill>
            <a:srgbClr val="DD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547104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737A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324F"/>
                </a:solidFill>
                <a:latin typeface="Aptos Display"/>
              </a:rPr>
              <a:t>What Cynosure Does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3736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8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700" b="1">
                <a:solidFill>
                  <a:srgbClr val="16324F"/>
                </a:solidFill>
                <a:latin typeface="Aptos"/>
              </a:rPr>
              <a:t>Market Assessment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80559" y="173736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8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700" b="1">
                <a:solidFill>
                  <a:srgbClr val="16324F"/>
                </a:solidFill>
                <a:latin typeface="Aptos"/>
              </a:rPr>
              <a:t>Market Entry Strategy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73736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8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700" b="1">
                <a:solidFill>
                  <a:srgbClr val="16324F"/>
                </a:solidFill>
                <a:latin typeface="Aptos"/>
              </a:rPr>
              <a:t>Strategic Partnerships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8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700" b="1">
                <a:solidFill>
                  <a:srgbClr val="16324F"/>
                </a:solidFill>
                <a:latin typeface="Aptos"/>
              </a:rPr>
              <a:t>Business Setup Coordination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365760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8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700" b="1">
                <a:solidFill>
                  <a:srgbClr val="16324F"/>
                </a:solidFill>
                <a:latin typeface="Aptos"/>
              </a:rPr>
              <a:t>Corporate Immigration &amp; Global Mobility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365760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8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700" b="1">
                <a:solidFill>
                  <a:srgbClr val="16324F"/>
                </a:solidFill>
                <a:latin typeface="Aptos"/>
              </a:rPr>
              <a:t>Ongoing Expansion Support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510528"/>
            <a:ext cx="10789920" cy="13716"/>
          </a:xfrm>
          <a:prstGeom prst="rect">
            <a:avLst/>
          </a:prstGeom>
          <a:solidFill>
            <a:srgbClr val="DD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0" y="6547104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737A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324F"/>
                </a:solidFill>
                <a:latin typeface="Aptos Display"/>
              </a:rPr>
              <a:t>Our Market Entry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344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66737A"/>
                </a:solidFill>
                <a:latin typeface="Aptos"/>
              </a:rPr>
              <a:t>A simple process designed to move from an idea to an actionable plan.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48840"/>
            <a:ext cx="1572768" cy="1097280"/>
          </a:xfrm>
          <a:prstGeom prst="roundRect">
            <a:avLst/>
          </a:prstGeom>
          <a:solidFill>
            <a:srgbClr val="2A7F7F"/>
          </a:solidFill>
          <a:ln>
            <a:solidFill>
              <a:srgbClr val="2A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1. Assess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42032" y="2148840"/>
            <a:ext cx="1572768" cy="1097280"/>
          </a:xfrm>
          <a:prstGeom prst="roundRect">
            <a:avLst/>
          </a:prstGeom>
          <a:solidFill>
            <a:srgbClr val="F4F7F8"/>
          </a:solidFill>
          <a:ln>
            <a:solidFill>
              <a:srgbClr val="2A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6324F"/>
                </a:solidFill>
              </a:rPr>
              <a:t>2. Strategise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43984" y="2148840"/>
            <a:ext cx="1572768" cy="1097280"/>
          </a:xfrm>
          <a:prstGeom prst="roundRect">
            <a:avLst/>
          </a:prstGeom>
          <a:solidFill>
            <a:srgbClr val="F4F7F8"/>
          </a:solidFill>
          <a:ln>
            <a:solidFill>
              <a:srgbClr val="2A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6324F"/>
                </a:solidFill>
              </a:rPr>
              <a:t>3. Connect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45936" y="2148840"/>
            <a:ext cx="1572768" cy="1097280"/>
          </a:xfrm>
          <a:prstGeom prst="roundRect">
            <a:avLst/>
          </a:prstGeom>
          <a:solidFill>
            <a:srgbClr val="F4F7F8"/>
          </a:solidFill>
          <a:ln>
            <a:solidFill>
              <a:srgbClr val="2A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6324F"/>
                </a:solidFill>
              </a:rPr>
              <a:t>4. Establish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47888" y="2148840"/>
            <a:ext cx="1572768" cy="1097280"/>
          </a:xfrm>
          <a:prstGeom prst="roundRect">
            <a:avLst/>
          </a:prstGeom>
          <a:solidFill>
            <a:srgbClr val="F4F7F8"/>
          </a:solidFill>
          <a:ln>
            <a:solidFill>
              <a:srgbClr val="2A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6324F"/>
                </a:solidFill>
              </a:rPr>
              <a:t>5. Launch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49840" y="2148840"/>
            <a:ext cx="1572768" cy="1097280"/>
          </a:xfrm>
          <a:prstGeom prst="roundRect">
            <a:avLst/>
          </a:prstGeom>
          <a:solidFill>
            <a:srgbClr val="2A7F7F"/>
          </a:solidFill>
          <a:ln>
            <a:solidFill>
              <a:srgbClr val="2A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6. Grow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931920"/>
            <a:ext cx="10241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5323A"/>
                </a:solidFill>
                <a:latin typeface="Aptos"/>
              </a:defRPr>
            </a:pPr>
            <a:r>
              <a:t>• We focus on execution, not just reports.</a:t>
            </a:r>
          </a:p>
          <a:p>
            <a:pPr>
              <a:spcAft>
                <a:spcPts val="1400"/>
              </a:spcAft>
              <a:defRPr sz="1800">
                <a:solidFill>
                  <a:srgbClr val="25323A"/>
                </a:solidFill>
                <a:latin typeface="Aptos"/>
              </a:defRPr>
            </a:pPr>
            <a:r>
              <a:t>• Local legal, tax, regulatory and specialist work is handled through appropriate professional partners.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6510528"/>
            <a:ext cx="10789920" cy="13716"/>
          </a:xfrm>
          <a:prstGeom prst="rect">
            <a:avLst/>
          </a:prstGeom>
          <a:solidFill>
            <a:srgbClr val="DD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0" y="6547104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737A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324F"/>
                </a:solidFill>
                <a:latin typeface="Aptos Display"/>
              </a:rPr>
              <a:t>Who We Work With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64592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5323A"/>
                </a:solidFill>
                <a:latin typeface="Aptos"/>
              </a:defRPr>
            </a:pPr>
            <a:r>
              <a:t>• Technology and AI companies</a:t>
            </a:r>
          </a:p>
          <a:p>
            <a:pPr>
              <a:spcAft>
                <a:spcPts val="1400"/>
              </a:spcAft>
              <a:defRPr sz="2000">
                <a:solidFill>
                  <a:srgbClr val="25323A"/>
                </a:solidFill>
                <a:latin typeface="Aptos"/>
              </a:defRPr>
            </a:pPr>
            <a:r>
              <a:t>• Healthcare and HealthTech businesses</a:t>
            </a:r>
          </a:p>
          <a:p>
            <a:pPr>
              <a:spcAft>
                <a:spcPts val="1400"/>
              </a:spcAft>
              <a:defRPr sz="2000">
                <a:solidFill>
                  <a:srgbClr val="25323A"/>
                </a:solidFill>
                <a:latin typeface="Aptos"/>
              </a:defRPr>
            </a:pPr>
            <a:r>
              <a:t>• Professional services firms</a:t>
            </a:r>
          </a:p>
          <a:p>
            <a:pPr>
              <a:spcAft>
                <a:spcPts val="1400"/>
              </a:spcAft>
              <a:defRPr sz="2000">
                <a:solidFill>
                  <a:srgbClr val="25323A"/>
                </a:solidFill>
                <a:latin typeface="Aptos"/>
              </a:defRPr>
            </a:pPr>
            <a:r>
              <a:t>• Innovative consumer and emerging businesses</a:t>
            </a:r>
          </a:p>
          <a:p>
            <a:pPr>
              <a:spcAft>
                <a:spcPts val="1400"/>
              </a:spcAft>
              <a:defRPr sz="2000">
                <a:solidFill>
                  <a:srgbClr val="25323A"/>
                </a:solidFill>
                <a:latin typeface="Aptos"/>
              </a:defRPr>
            </a:pPr>
            <a:r>
              <a:t>• Indian companies seeking international expansion</a:t>
            </a:r>
          </a:p>
          <a:p>
            <a:pPr>
              <a:spcAft>
                <a:spcPts val="1400"/>
              </a:spcAft>
              <a:defRPr sz="2000">
                <a:solidFill>
                  <a:srgbClr val="25323A"/>
                </a:solidFill>
                <a:latin typeface="Aptos"/>
              </a:defRPr>
            </a:pPr>
            <a:r>
              <a:t>• International companies looking to enter India and selected growth markets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510528"/>
            <a:ext cx="10789920" cy="13716"/>
          </a:xfrm>
          <a:prstGeom prst="rect">
            <a:avLst/>
          </a:prstGeom>
          <a:solidFill>
            <a:srgbClr val="DD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547104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737A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324F"/>
                </a:solidFill>
                <a:latin typeface="Aptos Display"/>
              </a:rPr>
              <a:t>Strategic Partnership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344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66737A"/>
                </a:solidFill>
                <a:latin typeface="Aptos"/>
              </a:rPr>
              <a:t>Cynosure can act as an international business development and market-entry partner.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5323A"/>
                </a:solidFill>
                <a:latin typeface="Aptos"/>
              </a:defRPr>
            </a:pPr>
            <a:r>
              <a:t>• Understand the company, product and expansion goals.</a:t>
            </a:r>
          </a:p>
          <a:p>
            <a:pPr>
              <a:spcAft>
                <a:spcPts val="1400"/>
              </a:spcAft>
              <a:defRPr sz="1900">
                <a:solidFill>
                  <a:srgbClr val="25323A"/>
                </a:solidFill>
                <a:latin typeface="Aptos"/>
              </a:defRPr>
            </a:pPr>
            <a:r>
              <a:t>• Select suitable target markets.</a:t>
            </a:r>
          </a:p>
          <a:p>
            <a:pPr>
              <a:spcAft>
                <a:spcPts val="1400"/>
              </a:spcAft>
              <a:defRPr sz="1900">
                <a:solidFill>
                  <a:srgbClr val="25323A"/>
                </a:solidFill>
                <a:latin typeface="Aptos"/>
              </a:defRPr>
            </a:pPr>
            <a:r>
              <a:t>• Identify potential clients, partners and local networks.</a:t>
            </a:r>
          </a:p>
          <a:p>
            <a:pPr>
              <a:spcAft>
                <a:spcPts val="1400"/>
              </a:spcAft>
              <a:defRPr sz="1900">
                <a:solidFill>
                  <a:srgbClr val="25323A"/>
                </a:solidFill>
                <a:latin typeface="Aptos"/>
              </a:defRPr>
            </a:pPr>
            <a:r>
              <a:t>• Coordinate introductions and market-development activity.</a:t>
            </a:r>
          </a:p>
          <a:p>
            <a:pPr>
              <a:spcAft>
                <a:spcPts val="1400"/>
              </a:spcAft>
              <a:defRPr sz="1900">
                <a:solidFill>
                  <a:srgbClr val="25323A"/>
                </a:solidFill>
                <a:latin typeface="Aptos"/>
              </a:defRPr>
            </a:pPr>
            <a:r>
              <a:t>• Support pilots, business setup and early-stage expansion.</a:t>
            </a:r>
          </a:p>
          <a:p>
            <a:pPr>
              <a:spcAft>
                <a:spcPts val="1400"/>
              </a:spcAft>
              <a:defRPr sz="1900">
                <a:solidFill>
                  <a:srgbClr val="25323A"/>
                </a:solidFill>
                <a:latin typeface="Aptos"/>
              </a:defRPr>
            </a:pPr>
            <a:r>
              <a:t>• Develop an ongoing relationship where there is mutual value.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510528"/>
            <a:ext cx="10789920" cy="13716"/>
          </a:xfrm>
          <a:prstGeom prst="rect">
            <a:avLst/>
          </a:prstGeom>
          <a:solidFill>
            <a:srgbClr val="DD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547104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737A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324F"/>
                </a:solidFill>
                <a:latin typeface="Aptos Display"/>
              </a:rPr>
              <a:t>How We Create Value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333756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8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A7F7F"/>
                </a:solidFill>
              </a:rPr>
              <a:t>ADVISORY</a:t>
            </a:r>
          </a:p>
          <a:p>
            <a:pPr algn="ctr"/>
            <a:r>
              <a:rPr sz="1600">
                <a:solidFill>
                  <a:srgbClr val="25323A"/>
                </a:solidFill>
              </a:rPr>
              <a:t>Market research</a:t>
            </a:r>
          </a:p>
          <a:p>
            <a:pPr algn="ctr"/>
            <a:r>
              <a:rPr sz="1600">
                <a:solidFill>
                  <a:srgbClr val="25323A"/>
                </a:solidFill>
              </a:rPr>
              <a:t>Strategy</a:t>
            </a:r>
          </a:p>
          <a:p>
            <a:pPr algn="ctr"/>
            <a:r>
              <a:rPr sz="1600">
                <a:solidFill>
                  <a:srgbClr val="25323A"/>
                </a:solidFill>
              </a:rPr>
              <a:t>Expansion planning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26280" y="1828800"/>
            <a:ext cx="333756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8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A7F7F"/>
                </a:solidFill>
              </a:rPr>
              <a:t>IMPLEMENTATION</a:t>
            </a:r>
          </a:p>
          <a:p>
            <a:pPr algn="ctr"/>
            <a:r>
              <a:rPr sz="1600">
                <a:solidFill>
                  <a:srgbClr val="25323A"/>
                </a:solidFill>
              </a:rPr>
              <a:t>Partner identification</a:t>
            </a:r>
          </a:p>
          <a:p>
            <a:pPr algn="ctr"/>
            <a:r>
              <a:rPr sz="1600">
                <a:solidFill>
                  <a:srgbClr val="25323A"/>
                </a:solidFill>
              </a:rPr>
              <a:t>Market entry</a:t>
            </a:r>
          </a:p>
          <a:p>
            <a:pPr algn="ctr"/>
            <a:r>
              <a:rPr sz="1600">
                <a:solidFill>
                  <a:srgbClr val="25323A"/>
                </a:solidFill>
              </a:rPr>
              <a:t>Business setup coordination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21040" y="1828800"/>
            <a:ext cx="333756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8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A7F7F"/>
                </a:solidFill>
              </a:rPr>
              <a:t>ONGOING</a:t>
            </a:r>
          </a:p>
          <a:p>
            <a:pPr algn="ctr"/>
            <a:r>
              <a:rPr sz="1600">
                <a:solidFill>
                  <a:srgbClr val="25323A"/>
                </a:solidFill>
              </a:rPr>
              <a:t>Retainers</a:t>
            </a:r>
          </a:p>
          <a:p>
            <a:pPr algn="ctr"/>
            <a:r>
              <a:rPr sz="1600">
                <a:solidFill>
                  <a:srgbClr val="25323A"/>
                </a:solidFill>
              </a:rPr>
              <a:t>Business development</a:t>
            </a:r>
          </a:p>
          <a:p>
            <a:pPr algn="ctr"/>
            <a:r>
              <a:rPr sz="1600">
                <a:solidFill>
                  <a:srgbClr val="25323A"/>
                </a:solidFill>
              </a:rPr>
              <a:t>Expansion 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510528"/>
            <a:ext cx="10789920" cy="13716"/>
          </a:xfrm>
          <a:prstGeom prst="rect">
            <a:avLst/>
          </a:prstGeom>
          <a:solidFill>
            <a:srgbClr val="DD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6547104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737A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324F"/>
                </a:solidFill>
                <a:latin typeface="Aptos Display"/>
              </a:rPr>
              <a:t>Why Cynosure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64592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5323A"/>
                </a:solidFill>
                <a:latin typeface="Aptos"/>
              </a:defRPr>
            </a:pPr>
            <a:r>
              <a:t>• 20+ years of experience across immigration, global mobility and international client management.</a:t>
            </a:r>
          </a:p>
          <a:p>
            <a:pPr>
              <a:spcAft>
                <a:spcPts val="1400"/>
              </a:spcAft>
              <a:defRPr sz="1900">
                <a:solidFill>
                  <a:srgbClr val="25323A"/>
                </a:solidFill>
                <a:latin typeface="Aptos"/>
              </a:defRPr>
            </a:pPr>
            <a:r>
              <a:t>• Cross-border perspective and an established professional network.</a:t>
            </a:r>
          </a:p>
          <a:p>
            <a:pPr>
              <a:spcAft>
                <a:spcPts val="1400"/>
              </a:spcAft>
              <a:defRPr sz="1900">
                <a:solidFill>
                  <a:srgbClr val="25323A"/>
                </a:solidFill>
                <a:latin typeface="Aptos"/>
              </a:defRPr>
            </a:pPr>
            <a:r>
              <a:t>• Boutique approach — focused, flexible and founder-led.</a:t>
            </a:r>
          </a:p>
          <a:p>
            <a:pPr>
              <a:spcAft>
                <a:spcPts val="1400"/>
              </a:spcAft>
              <a:defRPr sz="1900">
                <a:solidFill>
                  <a:srgbClr val="25323A"/>
                </a:solidFill>
                <a:latin typeface="Aptos"/>
              </a:defRPr>
            </a:pPr>
            <a:r>
              <a:t>• One platform connecting strategy, relationships, setup and mobility.</a:t>
            </a:r>
          </a:p>
          <a:p>
            <a:pPr>
              <a:spcAft>
                <a:spcPts val="1400"/>
              </a:spcAft>
              <a:defRPr sz="1900">
                <a:solidFill>
                  <a:srgbClr val="25323A"/>
                </a:solidFill>
                <a:latin typeface="Aptos"/>
              </a:defRPr>
            </a:pPr>
            <a:r>
              <a:t>• Partner-led model that brings the right specialists into each market.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510528"/>
            <a:ext cx="10789920" cy="13716"/>
          </a:xfrm>
          <a:prstGeom prst="rect">
            <a:avLst/>
          </a:prstGeom>
          <a:solidFill>
            <a:srgbClr val="DD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547104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737A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324F"/>
                </a:solidFill>
                <a:latin typeface="Aptos Display"/>
              </a:rPr>
              <a:t>First-Year Business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344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66737A"/>
                </a:solidFill>
                <a:latin typeface="Aptos"/>
              </a:rPr>
              <a:t>Start lean. Build credibility. Prove the model. Then scale.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5323A"/>
                </a:solidFill>
                <a:latin typeface="Aptos"/>
              </a:defRPr>
            </a:pPr>
            <a:r>
              <a:t>• Months 1–2: Register the company, build the brand and launch the website.</a:t>
            </a:r>
          </a:p>
          <a:p>
            <a:pPr>
              <a:spcAft>
                <a:spcPts val="1400"/>
              </a:spcAft>
              <a:defRPr sz="1900">
                <a:solidFill>
                  <a:srgbClr val="25323A"/>
                </a:solidFill>
                <a:latin typeface="Aptos"/>
              </a:defRPr>
            </a:pPr>
            <a:r>
              <a:t>• Months 2–4: Build a focused pipeline of international businesses and partners.</a:t>
            </a:r>
          </a:p>
          <a:p>
            <a:pPr>
              <a:spcAft>
                <a:spcPts val="1400"/>
              </a:spcAft>
              <a:defRPr sz="1900">
                <a:solidFill>
                  <a:srgbClr val="25323A"/>
                </a:solidFill>
                <a:latin typeface="Aptos"/>
              </a:defRPr>
            </a:pPr>
            <a:r>
              <a:t>• Months 4–6: Secure the first 3–5 advisory or market-entry engagements.</a:t>
            </a:r>
          </a:p>
          <a:p>
            <a:pPr>
              <a:spcAft>
                <a:spcPts val="1400"/>
              </a:spcAft>
              <a:defRPr sz="1900">
                <a:solidFill>
                  <a:srgbClr val="25323A"/>
                </a:solidFill>
                <a:latin typeface="Aptos"/>
              </a:defRPr>
            </a:pPr>
            <a:r>
              <a:t>• Months 6–12: Build recurring retainers, strategic partnerships and case studies.</a:t>
            </a:r>
          </a:p>
          <a:p>
            <a:pPr>
              <a:spcAft>
                <a:spcPts val="1400"/>
              </a:spcAft>
              <a:defRPr sz="1900">
                <a:solidFill>
                  <a:srgbClr val="25323A"/>
                </a:solidFill>
                <a:latin typeface="Aptos"/>
              </a:defRPr>
            </a:pPr>
            <a:r>
              <a:t>• Year 1 goal: establish Cynosure as a credible boutique international expansion partner.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510528"/>
            <a:ext cx="10789920" cy="13716"/>
          </a:xfrm>
          <a:prstGeom prst="rect">
            <a:avLst/>
          </a:prstGeom>
          <a:solidFill>
            <a:srgbClr val="DDE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547104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737A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54480"/>
            <a:ext cx="102412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CYNOSURE GLOBAL ADVISORY</a:t>
            </a:r>
          </a:p>
          <a:p>
            <a:pPr algn="ctr"/>
            <a:r>
              <a:rPr sz="2500">
                <a:solidFill>
                  <a:srgbClr val="D8E7EA"/>
                </a:solidFill>
              </a:rPr>
              <a:t>Helping businesses cross borders.</a:t>
            </a:r>
          </a:p>
          <a:p>
            <a:pPr algn="ctr"/>
            <a:r>
              <a:rPr sz="1600">
                <a:solidFill>
                  <a:srgbClr val="B8C9CE"/>
                </a:solidFill>
              </a:rPr>
              <a:t>International Market Entry • Strategic Expansion • Global Mobility</a:t>
            </a:r>
          </a:p>
          <a:p>
            <a:pPr algn="ctr"/>
            <a:r>
              <a:rPr sz="1400">
                <a:solidFill>
                  <a:srgbClr val="B8C9CE"/>
                </a:solidFill>
              </a:rPr>
              <a:t>India | International Markets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